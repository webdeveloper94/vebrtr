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Tanlov kasbiy ta’lim tashkilotlari pedagoglari uchun. Maqsad — yangilangan kasbiy ta’lim dasturlari bo‘yicha sifatli raqamli resurslar yaratish, jamlash va ommalashtirish.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RTR — butun modul bo‘yicha kontentlar to‘plami, RTK — uning ichidagi material. Kontent sakkizta tarkibiy qismdan iborat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Hududiy bosqich Qoraqalpog‘iston Respublikasi, viloyatlar va Toshkent shahri kesimida o‘tadi. Hay’at tarkibiga soha va axborot texnologiyalari bo‘yicha tajribali mutaxassislar kiritiladi.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Asosiy talab: resurs alohida fayllar emas, yaxlit tayyor dasturiy mahsulot bo‘lishi kerak. Platformadagi eski resursni kamida 50 foiz o‘zgartirib qayta topshirish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Soha eksperti mazmunni, AKT eksperti texnik sifat va dizaynni baholaydi. Bir xil ball to‘plaganlar Tashkiliy qo‘mita qarori bilan bir xil o‘rin bo‘yicha taqdirlanadi.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Natijalar Kasbiy ta’lim agentligi va Kasbiy ta’limni rivojlantirish instituti saytlarida e’lon qilinadi. Shikoyat natijalar e’lon qilingan kundan boshlab 1 ish kuni ichida respublika Tashkiliy qo‘mitasining apellyatsiya komissiyasiga beriladi. Tanlov hujjatlari 3 yil saqlanadi.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200" y="975320"/>
            <a:ext cx="1076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F2F47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11200" y="1699220"/>
            <a:ext cx="10668000" cy="434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2F4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200" y="975320"/>
            <a:ext cx="1076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F2F47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11200" y="1699220"/>
            <a:ext cx="10668000" cy="434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2F4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2F47"/>
              </a:gs>
              <a:gs pos="60000">
                <a:srgbClr val="14506F"/>
              </a:gs>
              <a:gs pos="100000">
                <a:srgbClr val="1A6E99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286750" y="514350"/>
            <a:ext cx="3289300" cy="3289300"/>
          </a:xfrm>
          <a:prstGeom prst="roundRect">
            <a:avLst>
              <a:gd name="adj" fmla="val 49228"/>
            </a:avLst>
          </a:prstGeom>
          <a:noFill/>
          <a:ln w="12700">
            <a:solidFill>
              <a:srgbClr val="F3F7F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7750" y="895350"/>
            <a:ext cx="2527300" cy="2527300"/>
          </a:xfrm>
          <a:prstGeom prst="roundRect">
            <a:avLst>
              <a:gd name="adj" fmla="val 50000"/>
            </a:avLst>
          </a:prstGeom>
          <a:solidFill>
            <a:srgbClr val="F3F7FA">
              <a:alpha val="8000"/>
            </a:srgbClr>
          </a:solidFill>
          <a:ln w="12700">
            <a:solidFill>
              <a:srgbClr val="F2A33A">
                <a:alpha val="70000"/>
              </a:srgbClr>
            </a:solidFill>
            <a:prstDash val="solid"/>
          </a:ln>
        </p:spPr>
      </p:sp>
      <p:pic>
        <p:nvPicPr>
          <p:cNvPr id="5" name="Image 0" descr="GraduationCa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96400" y="1524000"/>
            <a:ext cx="1270000" cy="1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200" y="558800"/>
            <a:ext cx="3701852" cy="36572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RESPUBLIKA KO‘RIK-TANLOVI · 2026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>
            <a:spLocks noGrp="1"/>
          </p:cNvSpPr>
          <p:nvPr>
            <p:ph type="title"/>
          </p:nvPr>
        </p:nvSpPr>
        <p:spPr>
          <a:xfrm>
            <a:off x="711200" y="1127720"/>
            <a:ext cx="7194550" cy="1342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3F7F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Eng yaxshi raqamli ta’lim resurslari</a:t>
            </a: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1200" y="2647553"/>
            <a:ext cx="71945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EE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Tanlovni o‘tkazish tartibi — Kasbiy ta’lim agentligi direktorining 2026-yil 13-avgustdagi 153-sonli buyrug‘iga 1-ilova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14375" y="5174754"/>
            <a:ext cx="2571750" cy="1121271"/>
          </a:xfrm>
          <a:prstGeom prst="roundRect">
            <a:avLst>
              <a:gd name="adj" fmla="val 11043"/>
            </a:avLst>
          </a:prstGeom>
          <a:solidFill>
            <a:srgbClr val="F3F7FA">
              <a:alpha val="8000"/>
            </a:srgbClr>
          </a:solidFill>
          <a:ln w="6350">
            <a:solidFill>
              <a:srgbClr val="F3F7FA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0750" y="5355729"/>
            <a:ext cx="222377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33A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3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20750" y="5883970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bosqichda o‘tkaziladi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444875" y="5174754"/>
            <a:ext cx="2571750" cy="1121271"/>
          </a:xfrm>
          <a:prstGeom prst="roundRect">
            <a:avLst>
              <a:gd name="adj" fmla="val 11043"/>
            </a:avLst>
          </a:prstGeom>
          <a:solidFill>
            <a:srgbClr val="F3F7FA">
              <a:alpha val="8000"/>
            </a:srgbClr>
          </a:solidFill>
          <a:ln w="6350">
            <a:solidFill>
              <a:srgbClr val="F3F7FA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1250" y="5355729"/>
            <a:ext cx="222377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33A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100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51250" y="5883970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ball — maksimal baho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175375" y="5174754"/>
            <a:ext cx="2571750" cy="1121271"/>
          </a:xfrm>
          <a:prstGeom prst="roundRect">
            <a:avLst>
              <a:gd name="adj" fmla="val 11043"/>
            </a:avLst>
          </a:prstGeom>
          <a:solidFill>
            <a:srgbClr val="F3F7FA">
              <a:alpha val="8000"/>
            </a:srgbClr>
          </a:solidFill>
          <a:ln w="6350">
            <a:solidFill>
              <a:srgbClr val="F3F7FA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1750" y="5355729"/>
            <a:ext cx="222377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33A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75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81750" y="5883970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ball — g‘oliblik chegarasi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905875" y="5174754"/>
            <a:ext cx="2571750" cy="1121271"/>
          </a:xfrm>
          <a:prstGeom prst="roundRect">
            <a:avLst>
              <a:gd name="adj" fmla="val 11043"/>
            </a:avLst>
          </a:prstGeom>
          <a:solidFill>
            <a:srgbClr val="F3F7FA">
              <a:alpha val="8000"/>
            </a:srgbClr>
          </a:solidFill>
          <a:ln w="6350">
            <a:solidFill>
              <a:srgbClr val="F3F7FA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12250" y="5355729"/>
            <a:ext cx="222377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33A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25×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112250" y="5883970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BHM — I o‘rin mukofoti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685800"/>
            <a:ext cx="110926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50" dirty="0">
                <a:solidFill>
                  <a:srgbClr val="1A6E99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01 · TUSHUNCHA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975320"/>
            <a:ext cx="110926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i="0" dirty="0">
                <a:solidFill>
                  <a:srgbClr val="0F2F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Raqamli ta’lim resursi nima?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1200" y="1648420"/>
            <a:ext cx="4064000" cy="1667173"/>
          </a:xfrm>
          <a:prstGeom prst="roundRect">
            <a:avLst>
              <a:gd name="adj" fmla="val 9141"/>
            </a:avLst>
          </a:prstGeom>
          <a:solidFill>
            <a:srgbClr val="14506F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902420"/>
            <a:ext cx="366268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71"/>
              </a:lnSpc>
              <a:buNone/>
            </a:pPr>
            <a:r>
              <a:rPr lang="en-US" b="1" dirty="0">
                <a:solidFill>
                  <a:srgbClr val="F2A33A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RTR — resurs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5200" y="2226469"/>
            <a:ext cx="3662680" cy="860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200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Bir kasb (mutaxassislik) o‘quv rejasi asosida aniq bir modulning o‘qitish natijalariga ko‘ra shakllantirilgan mavzularni qamrab olgan raqamli ta’lim kontentlari to‘plami.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7550" y="3474343"/>
            <a:ext cx="4051300" cy="1679873"/>
          </a:xfrm>
          <a:prstGeom prst="roundRect">
            <a:avLst>
              <a:gd name="adj" fmla="val 8694"/>
            </a:avLst>
          </a:prstGeom>
          <a:solidFill>
            <a:srgbClr val="FCFDFE"/>
          </a:solidFill>
          <a:ln w="12700">
            <a:solidFill>
              <a:srgbClr val="1A6E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7900" y="3734693"/>
            <a:ext cx="363651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000" b="1" dirty="0">
                <a:solidFill>
                  <a:srgbClr val="1A6E99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RTK — kontent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7900" y="4085134"/>
            <a:ext cx="3636518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Modulga ajratilgan soat doirasida, mavzular bo‘yicha o‘quv jarayonida foydalanish uchun raqamli shaklda taqdim etilgan material.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0" y="1648420"/>
            <a:ext cx="3162300" cy="782737"/>
          </a:xfrm>
          <a:prstGeom prst="roundRect">
            <a:avLst>
              <a:gd name="adj" fmla="val 16225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07000" y="181113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pic>
        <p:nvPicPr>
          <p:cNvPr id="13" name="Image 0" descr="Boo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8600" y="1912739"/>
            <a:ext cx="254000" cy="254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16600" y="1821359"/>
            <a:ext cx="1715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Mavzular ro‘yxati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816600" y="2060079"/>
            <a:ext cx="199775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4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o‘qitish natijalari asosida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318500" y="1648420"/>
            <a:ext cx="3162300" cy="782737"/>
          </a:xfrm>
          <a:prstGeom prst="roundRect">
            <a:avLst>
              <a:gd name="adj" fmla="val 16225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96300" y="181113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A72"/>
          </a:solidFill>
          <a:ln/>
        </p:spPr>
      </p:sp>
      <p:pic>
        <p:nvPicPr>
          <p:cNvPr id="18" name="Image 1" descr="GraduationCap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7900" y="1912739"/>
            <a:ext cx="254000" cy="2540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05900" y="1821359"/>
            <a:ext cx="2219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Ma’ruza matni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105900" y="2060079"/>
            <a:ext cx="23749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4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nazariy va amaliy mashg‘ulotlar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5029200" y="2558157"/>
            <a:ext cx="3162300" cy="782737"/>
          </a:xfrm>
          <a:prstGeom prst="roundRect">
            <a:avLst>
              <a:gd name="adj" fmla="val 16225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207000" y="27208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A72"/>
          </a:solidFill>
          <a:ln/>
        </p:spPr>
      </p:sp>
      <p:pic>
        <p:nvPicPr>
          <p:cNvPr id="23" name="Image 2" descr="Lightbulb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08600" y="2822476"/>
            <a:ext cx="254000" cy="2540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816600" y="2731095"/>
            <a:ext cx="22581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O‘qitish metodlari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5816600" y="2969816"/>
            <a:ext cx="23749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4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qo‘llaniladigan metodlar ro‘yxati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8318500" y="2558157"/>
            <a:ext cx="3162300" cy="782737"/>
          </a:xfrm>
          <a:prstGeom prst="roundRect">
            <a:avLst>
              <a:gd name="adj" fmla="val 16225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496300" y="27208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pic>
        <p:nvPicPr>
          <p:cNvPr id="28" name="Image 3" descr="Play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97900" y="2822476"/>
            <a:ext cx="254000" cy="2540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05900" y="2731095"/>
            <a:ext cx="1669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Media materiallar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9105900" y="2969816"/>
            <a:ext cx="194214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4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audio, video, animatsiya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5029200" y="3467894"/>
            <a:ext cx="3162300" cy="782836"/>
          </a:xfrm>
          <a:prstGeom prst="roundRect">
            <a:avLst>
              <a:gd name="adj" fmla="val 16223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207000" y="36307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pic>
        <p:nvPicPr>
          <p:cNvPr id="33" name="Image 4" descr="Search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08600" y="3732312"/>
            <a:ext cx="254000" cy="2540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816600" y="3640931"/>
            <a:ext cx="2374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Ko‘rgazmali materiallar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5816600" y="3879652"/>
            <a:ext cx="203930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4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didaktik vositalar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8318500" y="3467894"/>
            <a:ext cx="3162300" cy="782836"/>
          </a:xfrm>
          <a:prstGeom prst="roundRect">
            <a:avLst>
              <a:gd name="adj" fmla="val 16223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496300" y="36307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A72"/>
          </a:solidFill>
          <a:ln/>
        </p:spPr>
      </p:sp>
      <p:pic>
        <p:nvPicPr>
          <p:cNvPr id="38" name="Image 5" descr="Chart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97900" y="3732312"/>
            <a:ext cx="254000" cy="2540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105900" y="3640931"/>
            <a:ext cx="21949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Taqdimot materiallari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9105900" y="3879652"/>
            <a:ext cx="188397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4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ppt, pptx, pdf, jpg, png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5029200" y="4377730"/>
            <a:ext cx="3162300" cy="782836"/>
          </a:xfrm>
          <a:prstGeom prst="roundRect">
            <a:avLst>
              <a:gd name="adj" fmla="val 16223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5207000" y="45405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A72"/>
          </a:solidFill>
          <a:ln/>
        </p:spPr>
      </p:sp>
      <p:pic>
        <p:nvPicPr>
          <p:cNvPr id="43" name="Image 6" descr="CheckCircle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308600" y="4642148"/>
            <a:ext cx="254000" cy="2540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816600" y="4550767"/>
            <a:ext cx="19600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600" b="1" dirty="0" err="1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Baholash-savollari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36"/>
          <p:cNvSpPr/>
          <p:nvPr/>
        </p:nvSpPr>
        <p:spPr>
          <a:xfrm>
            <a:off x="5816600" y="4789488"/>
            <a:ext cx="22835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4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savollar, topshiriqlar, testlar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37"/>
          <p:cNvSpPr/>
          <p:nvPr/>
        </p:nvSpPr>
        <p:spPr>
          <a:xfrm>
            <a:off x="8318500" y="4377730"/>
            <a:ext cx="3162300" cy="782836"/>
          </a:xfrm>
          <a:prstGeom prst="roundRect">
            <a:avLst>
              <a:gd name="adj" fmla="val 16223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8496300" y="45405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pic>
        <p:nvPicPr>
          <p:cNvPr id="48" name="Image 7" descr="Chat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597900" y="4642148"/>
            <a:ext cx="254000" cy="25400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9105900" y="4550767"/>
            <a:ext cx="1120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Glossariy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0"/>
          <p:cNvSpPr/>
          <p:nvPr/>
        </p:nvSpPr>
        <p:spPr>
          <a:xfrm>
            <a:off x="9105900" y="4789488"/>
            <a:ext cx="128385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4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atamalar lug‘ati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685800"/>
            <a:ext cx="110926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A6E99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02 · JARAYON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975320"/>
            <a:ext cx="110926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F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Tanlov uch bosqichda o‘tadi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1200" y="1648420"/>
            <a:ext cx="3183434" cy="2367657"/>
          </a:xfrm>
          <a:prstGeom prst="roundRect">
            <a:avLst>
              <a:gd name="adj" fmla="val 6437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1200" y="1648420"/>
            <a:ext cx="3183434" cy="2367657"/>
          </a:xfrm>
          <a:custGeom>
            <a:avLst/>
            <a:gdLst/>
            <a:ahLst/>
            <a:cxnLst/>
            <a:rect l="l" t="t" r="r" b="b"/>
            <a:pathLst>
              <a:path w="3183434" h="2367657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3031034" y="0"/>
                </a:lnTo>
                <a:arcTo wR="152400" hR="152400" stAng="16200000" swAng="5400000"/>
                <a:lnTo>
                  <a:pt x="3183434" y="152400"/>
                </a:lnTo>
                <a:arcTo wR="152400" hR="88900" stAng="0" swAng="-5400000"/>
                <a:lnTo>
                  <a:pt x="152400" y="63500"/>
                </a:lnTo>
                <a:arcTo wR="152400" hR="88900" stAng="16200000" swAng="-5400000"/>
                <a:close/>
              </a:path>
            </a:pathLst>
          </a:custGeom>
          <a:solidFill>
            <a:srgbClr val="1A6E99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1940520"/>
            <a:ext cx="27556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A6E99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1-BOSQICH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5200" y="2242741"/>
            <a:ext cx="275569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F47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Ta’lim tashkiloti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5200" y="2605881"/>
            <a:ext cx="275569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6E99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10-noyabrgacha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5200" y="3030041"/>
            <a:ext cx="275569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Rais:</a:t>
            </a:r>
            <a:r>
              <a:rPr lang="en-US" sz="13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tashkilot rahbari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5200" y="3341787"/>
            <a:ext cx="275569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Har bir kasb bo‘yicha I o‘rin egasi hududiy bosqichga o‘tadi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96234" y="2705199"/>
            <a:ext cx="406400" cy="254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04234" y="1648420"/>
            <a:ext cx="3183533" cy="2367657"/>
          </a:xfrm>
          <a:prstGeom prst="roundRect">
            <a:avLst>
              <a:gd name="adj" fmla="val 6437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234" y="1648420"/>
            <a:ext cx="3183533" cy="2367657"/>
          </a:xfrm>
          <a:custGeom>
            <a:avLst/>
            <a:gdLst/>
            <a:ahLst/>
            <a:cxnLst/>
            <a:rect l="l" t="t" r="r" b="b"/>
            <a:pathLst>
              <a:path w="3183533" h="2367657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3031133" y="0"/>
                </a:lnTo>
                <a:arcTo wR="152400" hR="152400" stAng="16200000" swAng="5400000"/>
                <a:lnTo>
                  <a:pt x="3183533" y="152400"/>
                </a:lnTo>
                <a:arcTo wR="152400" hR="88900" stAng="0" swAng="-5400000"/>
                <a:lnTo>
                  <a:pt x="152400" y="63500"/>
                </a:lnTo>
                <a:arcTo wR="152400" hR="88900" stAng="16200000" swAng="-5400000"/>
                <a:close/>
              </a:path>
            </a:pathLst>
          </a:custGeom>
          <a:solidFill>
            <a:srgbClr val="0F7A72"/>
          </a:solidFill>
          <a:ln/>
        </p:spPr>
      </p:sp>
      <p:sp>
        <p:nvSpPr>
          <p:cNvPr id="15" name="Text 12"/>
          <p:cNvSpPr/>
          <p:nvPr/>
        </p:nvSpPr>
        <p:spPr>
          <a:xfrm>
            <a:off x="4758234" y="1940520"/>
            <a:ext cx="27557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F7A72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2-BOSQICH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58234" y="2242741"/>
            <a:ext cx="2755799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F47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Hudud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758234" y="2605881"/>
            <a:ext cx="275579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7A72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20-noyabrgacha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58234" y="3030041"/>
            <a:ext cx="275579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Rais:</a:t>
            </a:r>
            <a:r>
              <a:rPr lang="en-US" sz="13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boshqarma boshlig‘i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58234" y="3341787"/>
            <a:ext cx="275579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Har bir kasb bo‘yicha I o‘rin egasi respublika bosqichiga o‘tadi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89366" y="2705199"/>
            <a:ext cx="406400" cy="2540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297366" y="1648420"/>
            <a:ext cx="3183434" cy="2367657"/>
          </a:xfrm>
          <a:prstGeom prst="roundRect">
            <a:avLst>
              <a:gd name="adj" fmla="val 6437"/>
            </a:avLst>
          </a:prstGeom>
          <a:solidFill>
            <a:srgbClr val="14506F"/>
          </a:solidFill>
          <a:ln/>
          <a:effectLst>
            <a:outerShdw blurRad="127000" dist="38100" dir="5400000" algn="bl" rotWithShape="0">
              <a:srgbClr val="0F2F47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97366" y="1648420"/>
            <a:ext cx="3183434" cy="2367657"/>
          </a:xfrm>
          <a:custGeom>
            <a:avLst/>
            <a:gdLst/>
            <a:ahLst/>
            <a:cxnLst/>
            <a:rect l="l" t="t" r="r" b="b"/>
            <a:pathLst>
              <a:path w="3183434" h="2367657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3031034" y="0"/>
                </a:lnTo>
                <a:arcTo wR="152400" hR="152400" stAng="16200000" swAng="5400000"/>
                <a:lnTo>
                  <a:pt x="3183434" y="152400"/>
                </a:lnTo>
                <a:arcTo wR="152400" hR="88900" stAng="0" swAng="-5400000"/>
                <a:lnTo>
                  <a:pt x="152400" y="63500"/>
                </a:lnTo>
                <a:arcTo wR="152400" hR="88900" stAng="16200000" swAng="-5400000"/>
                <a:close/>
              </a:path>
            </a:pathLst>
          </a:custGeom>
          <a:solidFill>
            <a:srgbClr val="F2A33A"/>
          </a:solidFill>
          <a:ln/>
        </p:spPr>
      </p:sp>
      <p:sp>
        <p:nvSpPr>
          <p:cNvPr id="23" name="Text 19"/>
          <p:cNvSpPr/>
          <p:nvPr/>
        </p:nvSpPr>
        <p:spPr>
          <a:xfrm>
            <a:off x="8551366" y="1940520"/>
            <a:ext cx="27556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A33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3-BOSQICH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551366" y="2242741"/>
            <a:ext cx="275569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7FA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Respublika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8551366" y="2605881"/>
            <a:ext cx="275569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A33A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10-dekabrgacha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8551366" y="3030041"/>
            <a:ext cx="275569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Rais:</a:t>
            </a:r>
            <a:r>
              <a:rPr lang="en-US" sz="1300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Agentlik direktori o‘rinbosari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8551366" y="3341787"/>
            <a:ext cx="275569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C9DEE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60 ta kasb × 1 ta eng yaxshi modul = 60 ta g‘olib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711200" y="4270077"/>
            <a:ext cx="2597150" cy="700881"/>
          </a:xfrm>
          <a:prstGeom prst="roundRect">
            <a:avLst>
              <a:gd name="adj" fmla="val 18120"/>
            </a:avLst>
          </a:prstGeom>
          <a:solidFill>
            <a:srgbClr val="E3EDF3"/>
          </a:solidFill>
          <a:ln/>
        </p:spPr>
      </p:sp>
      <p:pic>
        <p:nvPicPr>
          <p:cNvPr id="29" name="Image 2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9000" y="4455418"/>
            <a:ext cx="330200" cy="330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346200" y="4422477"/>
            <a:ext cx="183788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Tashkiliy qo‘mita</a:t>
            </a:r>
            <a:r>
              <a:rPr lang="en-US" sz="1200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— kamida 5 nafar a’zo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3435350" y="4270077"/>
            <a:ext cx="2597150" cy="700881"/>
          </a:xfrm>
          <a:prstGeom prst="roundRect">
            <a:avLst>
              <a:gd name="adj" fmla="val 18120"/>
            </a:avLst>
          </a:prstGeom>
          <a:solidFill>
            <a:srgbClr val="E3EDF3"/>
          </a:solidFill>
          <a:ln/>
        </p:spPr>
      </p:sp>
      <p:pic>
        <p:nvPicPr>
          <p:cNvPr id="32" name="Image 3" descr="Verified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13150" y="4455418"/>
            <a:ext cx="330200" cy="330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070350" y="4422477"/>
            <a:ext cx="183788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Tanlov hay’ati</a:t>
            </a:r>
            <a:r>
              <a:rPr lang="en-US" sz="1200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— kamida 5 nafar ekspert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6159500" y="4270077"/>
            <a:ext cx="2597150" cy="700881"/>
          </a:xfrm>
          <a:prstGeom prst="roundRect">
            <a:avLst>
              <a:gd name="adj" fmla="val 18120"/>
            </a:avLst>
          </a:prstGeom>
          <a:solidFill>
            <a:srgbClr val="E3EDF3"/>
          </a:solidFill>
          <a:ln/>
        </p:spPr>
      </p:sp>
      <p:pic>
        <p:nvPicPr>
          <p:cNvPr id="35" name="Image 4" descr="Cloc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37300" y="4455418"/>
            <a:ext cx="330200" cy="330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794500" y="4422477"/>
            <a:ext cx="183788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3 ish kuni</a:t>
            </a:r>
            <a:r>
              <a:rPr lang="en-US" sz="1200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— 1-bosqich natijasini topshirish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8883650" y="4270077"/>
            <a:ext cx="2597150" cy="700881"/>
          </a:xfrm>
          <a:prstGeom prst="roundRect">
            <a:avLst>
              <a:gd name="adj" fmla="val 18120"/>
            </a:avLst>
          </a:prstGeom>
          <a:solidFill>
            <a:srgbClr val="E3EDF3"/>
          </a:solidFill>
          <a:ln/>
        </p:spPr>
      </p:sp>
      <p:pic>
        <p:nvPicPr>
          <p:cNvPr id="38" name="Image 5" descr="Sta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61450" y="4455418"/>
            <a:ext cx="330200" cy="3302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518650" y="4422477"/>
            <a:ext cx="183788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75 ball</a:t>
            </a:r>
            <a:r>
              <a:rPr lang="en-US" sz="1200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— g‘olib bo‘lish uchun eng kam natija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685800"/>
            <a:ext cx="110926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A6E99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03 · SHARTLAR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975320"/>
            <a:ext cx="110926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F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Resursga qo‘yiladigan talablar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1200" y="1648420"/>
            <a:ext cx="5257800" cy="533400"/>
          </a:xfrm>
          <a:prstGeom prst="roundRect">
            <a:avLst>
              <a:gd name="adj" fmla="val 23810"/>
            </a:avLst>
          </a:prstGeom>
          <a:solidFill>
            <a:srgbClr val="0F7A72"/>
          </a:solidFill>
          <a:ln/>
        </p:spPr>
      </p:sp>
      <p:pic>
        <p:nvPicPr>
          <p:cNvPr id="6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775420"/>
            <a:ext cx="279400" cy="279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5400" y="1785541"/>
            <a:ext cx="174200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7FA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Ruxsat etiladi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11200" y="2308820"/>
            <a:ext cx="5257800" cy="1033661"/>
          </a:xfrm>
          <a:prstGeom prst="roundRect">
            <a:avLst>
              <a:gd name="adj" fmla="val 12286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1200" y="2308820"/>
            <a:ext cx="5257800" cy="1033661"/>
          </a:xfrm>
          <a:custGeom>
            <a:avLst/>
            <a:gdLst/>
            <a:ahLst/>
            <a:cxnLst/>
            <a:rect l="l" t="t" r="r" b="b"/>
            <a:pathLst>
              <a:path w="5257800" h="1033661">
                <a:moveTo>
                  <a:pt x="127000" y="1033661"/>
                </a:moveTo>
                <a:lnTo>
                  <a:pt x="127000" y="1033661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76200" hR="127000" stAng="16200000" swAng="-5400000"/>
                <a:lnTo>
                  <a:pt x="50800" y="906661"/>
                </a:lnTo>
                <a:arcTo wR="76200" hR="127000" stAng="10800000" swAng="-5400000"/>
                <a:close/>
              </a:path>
            </a:pathLst>
          </a:custGeom>
          <a:solidFill>
            <a:srgbClr val="0F7A72"/>
          </a:solidFill>
          <a:ln/>
        </p:spPr>
      </p:sp>
      <p:sp>
        <p:nvSpPr>
          <p:cNvPr id="10" name="Text 7"/>
          <p:cNvSpPr/>
          <p:nvPr/>
        </p:nvSpPr>
        <p:spPr>
          <a:xfrm>
            <a:off x="939800" y="2622451"/>
            <a:ext cx="1003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F7A72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3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095500" y="2486620"/>
            <a:ext cx="37804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nafargacha hammuallif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095500" y="2753320"/>
            <a:ext cx="378040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modulning murakkabligidan kelib chiqib, hamkorlikda ishlab chiqish mumkin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11200" y="3469481"/>
            <a:ext cx="5257800" cy="1033661"/>
          </a:xfrm>
          <a:prstGeom prst="roundRect">
            <a:avLst>
              <a:gd name="adj" fmla="val 12286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1200" y="3469481"/>
            <a:ext cx="5257800" cy="1033661"/>
          </a:xfrm>
          <a:custGeom>
            <a:avLst/>
            <a:gdLst/>
            <a:ahLst/>
            <a:cxnLst/>
            <a:rect l="l" t="t" r="r" b="b"/>
            <a:pathLst>
              <a:path w="5257800" h="1033661">
                <a:moveTo>
                  <a:pt x="127000" y="1033661"/>
                </a:moveTo>
                <a:lnTo>
                  <a:pt x="127000" y="1033661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76200" hR="127000" stAng="16200000" swAng="-5400000"/>
                <a:lnTo>
                  <a:pt x="50800" y="906661"/>
                </a:lnTo>
                <a:arcTo wR="76200" hR="127000" stAng="10800000" swAng="-5400000"/>
                <a:close/>
              </a:path>
            </a:pathLst>
          </a:custGeom>
          <a:solidFill>
            <a:srgbClr val="0F7A72"/>
          </a:solidFill>
          <a:ln/>
        </p:spPr>
      </p:sp>
      <p:sp>
        <p:nvSpPr>
          <p:cNvPr id="15" name="Text 12"/>
          <p:cNvSpPr/>
          <p:nvPr/>
        </p:nvSpPr>
        <p:spPr>
          <a:xfrm>
            <a:off x="939800" y="3783112"/>
            <a:ext cx="1003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F7A72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1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095500" y="3647281"/>
            <a:ext cx="37804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tayyor dasturiy mahsulot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095500" y="3913981"/>
            <a:ext cx="378040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tizimlashtirilgan, foydalanishga tayyor holda taqdim etiladi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11200" y="4630142"/>
            <a:ext cx="5257800" cy="1033661"/>
          </a:xfrm>
          <a:prstGeom prst="roundRect">
            <a:avLst>
              <a:gd name="adj" fmla="val 12286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1200" y="4630142"/>
            <a:ext cx="5257800" cy="1033661"/>
          </a:xfrm>
          <a:custGeom>
            <a:avLst/>
            <a:gdLst/>
            <a:ahLst/>
            <a:cxnLst/>
            <a:rect l="l" t="t" r="r" b="b"/>
            <a:pathLst>
              <a:path w="5257800" h="1033661">
                <a:moveTo>
                  <a:pt x="127000" y="1033661"/>
                </a:moveTo>
                <a:lnTo>
                  <a:pt x="127000" y="1033661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76200" hR="127000" stAng="16200000" swAng="-5400000"/>
                <a:lnTo>
                  <a:pt x="50800" y="906661"/>
                </a:lnTo>
                <a:arcTo wR="76200" hR="127000" stAng="10800000" swAng="-5400000"/>
                <a:close/>
              </a:path>
            </a:pathLst>
          </a:custGeom>
          <a:solidFill>
            <a:srgbClr val="0F7A72"/>
          </a:solidFill>
          <a:ln/>
        </p:spPr>
      </p:sp>
      <p:sp>
        <p:nvSpPr>
          <p:cNvPr id="20" name="Text 17"/>
          <p:cNvSpPr/>
          <p:nvPr/>
        </p:nvSpPr>
        <p:spPr>
          <a:xfrm>
            <a:off x="939800" y="4943773"/>
            <a:ext cx="1003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F7A72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50%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095500" y="4807942"/>
            <a:ext cx="37804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 err="1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Ishlab</a:t>
            </a:r>
            <a:r>
              <a:rPr lang="en-US" sz="15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chiqayotgan</a:t>
            </a:r>
            <a:r>
              <a:rPr lang="en-US" sz="15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moduular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095500" y="5074642"/>
            <a:ext cx="378040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(</a:t>
            </a:r>
            <a:r>
              <a:rPr lang="en-US" sz="1200" dirty="0" err="1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modullarning</a:t>
            </a: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soati</a:t>
            </a: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oʻqitish</a:t>
            </a: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natijalari</a:t>
            </a: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va</a:t>
            </a: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mazmuniga</a:t>
            </a: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kamida</a:t>
            </a: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50 </a:t>
            </a:r>
            <a:r>
              <a:rPr lang="en-US" sz="1200" dirty="0" err="1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foiz</a:t>
            </a: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oʻzgartirishlar</a:t>
            </a: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kiritilganda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223000" y="1648420"/>
            <a:ext cx="5257800" cy="533400"/>
          </a:xfrm>
          <a:prstGeom prst="roundRect">
            <a:avLst>
              <a:gd name="adj" fmla="val 23810"/>
            </a:avLst>
          </a:prstGeom>
          <a:solidFill>
            <a:srgbClr val="F2A33A"/>
          </a:solidFill>
          <a:ln/>
        </p:spPr>
      </p:sp>
      <p:pic>
        <p:nvPicPr>
          <p:cNvPr id="24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6200" y="1775420"/>
            <a:ext cx="279400" cy="279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807200" y="1785541"/>
            <a:ext cx="208454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F47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Qabul qilinmaydi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6223000" y="2308820"/>
            <a:ext cx="5257800" cy="1033661"/>
          </a:xfrm>
          <a:prstGeom prst="roundRect">
            <a:avLst>
              <a:gd name="adj" fmla="val 12286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223000" y="2308820"/>
            <a:ext cx="5257800" cy="1033661"/>
          </a:xfrm>
          <a:custGeom>
            <a:avLst/>
            <a:gdLst/>
            <a:ahLst/>
            <a:cxnLst/>
            <a:rect l="l" t="t" r="r" b="b"/>
            <a:pathLst>
              <a:path w="5257800" h="1033661">
                <a:moveTo>
                  <a:pt x="127000" y="1033661"/>
                </a:moveTo>
                <a:lnTo>
                  <a:pt x="127000" y="1033661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76200" hR="127000" stAng="16200000" swAng="-5400000"/>
                <a:lnTo>
                  <a:pt x="50800" y="906661"/>
                </a:lnTo>
                <a:arcTo wR="76200" hR="127000" stAng="10800000" swAng="-5400000"/>
                <a:close/>
              </a:path>
            </a:pathLst>
          </a:custGeom>
          <a:solidFill>
            <a:srgbClr val="F2A33A"/>
          </a:solidFill>
          <a:ln/>
        </p:spPr>
      </p:sp>
      <p:pic>
        <p:nvPicPr>
          <p:cNvPr id="28" name="Image 2" descr="Databa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24650" y="2597051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607300" y="2486620"/>
            <a:ext cx="37804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Alohida fayllar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7607300" y="2753320"/>
            <a:ext cx="378040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word, excel, pdf, jpg va boshqa ko‘rinishdagi tarqoq materiallar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6223000" y="3469481"/>
            <a:ext cx="5257800" cy="1033661"/>
          </a:xfrm>
          <a:prstGeom prst="roundRect">
            <a:avLst>
              <a:gd name="adj" fmla="val 12286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223000" y="3469481"/>
            <a:ext cx="5257800" cy="1033661"/>
          </a:xfrm>
          <a:custGeom>
            <a:avLst/>
            <a:gdLst/>
            <a:ahLst/>
            <a:cxnLst/>
            <a:rect l="l" t="t" r="r" b="b"/>
            <a:pathLst>
              <a:path w="5257800" h="1033661">
                <a:moveTo>
                  <a:pt x="127000" y="1033661"/>
                </a:moveTo>
                <a:lnTo>
                  <a:pt x="127000" y="1033661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76200" hR="127000" stAng="16200000" swAng="-5400000"/>
                <a:lnTo>
                  <a:pt x="50800" y="906661"/>
                </a:lnTo>
                <a:arcTo wR="76200" hR="127000" stAng="10800000" swAng="-5400000"/>
                <a:close/>
              </a:path>
            </a:pathLst>
          </a:custGeom>
          <a:solidFill>
            <a:srgbClr val="F2A33A"/>
          </a:solidFill>
          <a:ln/>
        </p:spPr>
      </p:sp>
      <p:pic>
        <p:nvPicPr>
          <p:cNvPr id="33" name="Image 3" descr="Loc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24650" y="3757712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607300" y="3647281"/>
            <a:ext cx="37804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Plagiat va takror ishlar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7607300" y="3913981"/>
            <a:ext cx="378040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bitta moduldan bir xil mazmun va shakldagi yoki ko‘chirilgan resurslar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6223000" y="4630142"/>
            <a:ext cx="5257800" cy="1033661"/>
          </a:xfrm>
          <a:prstGeom prst="roundRect">
            <a:avLst>
              <a:gd name="adj" fmla="val 12286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223000" y="4630142"/>
            <a:ext cx="5257800" cy="1033661"/>
          </a:xfrm>
          <a:custGeom>
            <a:avLst/>
            <a:gdLst/>
            <a:ahLst/>
            <a:cxnLst/>
            <a:rect l="l" t="t" r="r" b="b"/>
            <a:pathLst>
              <a:path w="5257800" h="1033661">
                <a:moveTo>
                  <a:pt x="127000" y="1033661"/>
                </a:moveTo>
                <a:lnTo>
                  <a:pt x="127000" y="1033661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76200" hR="127000" stAng="16200000" swAng="-5400000"/>
                <a:lnTo>
                  <a:pt x="50800" y="906661"/>
                </a:lnTo>
                <a:arcTo wR="76200" hR="127000" stAng="10800000" swAng="-5400000"/>
                <a:close/>
              </a:path>
            </a:pathLst>
          </a:custGeom>
          <a:solidFill>
            <a:srgbClr val="F2A33A"/>
          </a:solidFill>
          <a:ln/>
        </p:spPr>
      </p:sp>
      <p:pic>
        <p:nvPicPr>
          <p:cNvPr id="38" name="Image 4" descr="Glob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24650" y="4918373"/>
            <a:ext cx="457200" cy="4572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607300" y="4807942"/>
            <a:ext cx="37804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Mavjud va umumta’lim resurslari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7607300" y="5074642"/>
            <a:ext cx="378040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rtr.profedu.uz platformasida bor hamda umumta’lim fanlari bo‘yicha ishlar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685800"/>
            <a:ext cx="110926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A6E99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04 · BAHOLASH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975320"/>
            <a:ext cx="110926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F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Baholash mezonlari — 100 ball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1200" y="1623020"/>
            <a:ext cx="2540000" cy="4507607"/>
          </a:xfrm>
          <a:prstGeom prst="roundRect">
            <a:avLst>
              <a:gd name="adj" fmla="val 6000"/>
            </a:avLst>
          </a:prstGeom>
          <a:solidFill>
            <a:srgbClr val="14506F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1851620"/>
            <a:ext cx="214528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A33A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100</a:t>
            </a:r>
            <a:endParaRPr 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39800" y="2639020"/>
            <a:ext cx="21452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ball — ikki ekspert bahosi yig‘indisi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39800" y="3588742"/>
            <a:ext cx="1249660" cy="358080"/>
          </a:xfrm>
          <a:custGeom>
            <a:avLst/>
            <a:gdLst/>
            <a:ahLst/>
            <a:cxnLst/>
            <a:rect l="l" t="t" r="r" b="b"/>
            <a:pathLst>
              <a:path w="1249660" h="358080">
                <a:moveTo>
                  <a:pt x="0" y="76200"/>
                </a:moveTo>
                <a:arcTo wR="76200" hR="76200" stAng="10800000" swAng="5400000"/>
                <a:lnTo>
                  <a:pt x="1249660" y="0"/>
                </a:lnTo>
                <a:lnTo>
                  <a:pt x="1249660" y="358080"/>
                </a:lnTo>
                <a:lnTo>
                  <a:pt x="76200" y="358080"/>
                </a:lnTo>
                <a:arcTo wR="76200" hR="76200" stAng="5400000" swAng="5400000"/>
                <a:close/>
              </a:path>
            </a:pathLst>
          </a:custGeom>
          <a:solidFill>
            <a:srgbClr val="1F8FC4"/>
          </a:solidFill>
          <a:ln/>
        </p:spPr>
        <p:txBody>
          <a:bodyPr wrap="square" lIns="0" tIns="63500" rIns="0" bIns="381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60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89460" y="3588742"/>
            <a:ext cx="833140" cy="358080"/>
          </a:xfrm>
          <a:custGeom>
            <a:avLst/>
            <a:gdLst/>
            <a:ahLst/>
            <a:cxnLst/>
            <a:rect l="l" t="t" r="r" b="b"/>
            <a:pathLst>
              <a:path w="833140" h="358080">
                <a:moveTo>
                  <a:pt x="756940" y="0"/>
                </a:moveTo>
                <a:arcTo wR="76200" hR="76200" stAng="16200000" swAng="5400000"/>
                <a:lnTo>
                  <a:pt x="833140" y="281880"/>
                </a:lnTo>
                <a:arcTo wR="76200" hR="76200" stAng="0" swAng="5400000"/>
                <a:lnTo>
                  <a:pt x="0" y="358080"/>
                </a:lnTo>
                <a:lnTo>
                  <a:pt x="0" y="0"/>
                </a:lnTo>
                <a:close/>
              </a:path>
            </a:pathLst>
          </a:custGeom>
          <a:solidFill>
            <a:srgbClr val="F2A33A"/>
          </a:solidFill>
          <a:ln/>
        </p:spPr>
        <p:txBody>
          <a:bodyPr wrap="square" lIns="0" tIns="63500" rIns="0" bIns="381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40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9800" y="4023023"/>
            <a:ext cx="2145284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9DEE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Soha eksperti 60 · AKT eksperti 40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42975" y="4909741"/>
            <a:ext cx="2076450" cy="989112"/>
          </a:xfrm>
          <a:prstGeom prst="roundRect">
            <a:avLst>
              <a:gd name="adj" fmla="val 9951"/>
            </a:avLst>
          </a:prstGeom>
          <a:solidFill>
            <a:srgbClr val="F3F7FA">
              <a:alpha val="10000"/>
            </a:srgbClr>
          </a:solidFill>
          <a:ln w="6350">
            <a:solidFill>
              <a:srgbClr val="F3F7FA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8550" y="5039916"/>
            <a:ext cx="1818259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3F7FA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75 ball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8550" y="5372596"/>
            <a:ext cx="1818259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9DEE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g‘olib bo‘lish uchun eng kam natija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54400" y="1623020"/>
            <a:ext cx="3911600" cy="4507607"/>
          </a:xfrm>
          <a:prstGeom prst="roundRect">
            <a:avLst>
              <a:gd name="adj" fmla="val 3896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83000" y="1826220"/>
            <a:ext cx="35580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6E99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Soha eksperti · 60 ball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83000" y="2171601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Ma’ruza matni mavzularni qamrashi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83000" y="2469952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E3EDF3"/>
          </a:solidFill>
          <a:ln/>
        </p:spPr>
      </p:sp>
      <p:sp>
        <p:nvSpPr>
          <p:cNvPr id="18" name="Shape 16"/>
          <p:cNvSpPr/>
          <p:nvPr/>
        </p:nvSpPr>
        <p:spPr>
          <a:xfrm>
            <a:off x="3683000" y="2469952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sp>
        <p:nvSpPr>
          <p:cNvPr id="19" name="Text 17"/>
          <p:cNvSpPr/>
          <p:nvPr/>
        </p:nvSpPr>
        <p:spPr>
          <a:xfrm>
            <a:off x="6832600" y="2407741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83000" y="2722662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O‘qitish natijalariga mosligi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83000" y="3021013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E3EDF3"/>
          </a:solidFill>
          <a:ln/>
        </p:spPr>
      </p:sp>
      <p:sp>
        <p:nvSpPr>
          <p:cNvPr id="22" name="Shape 20"/>
          <p:cNvSpPr/>
          <p:nvPr/>
        </p:nvSpPr>
        <p:spPr>
          <a:xfrm>
            <a:off x="3683000" y="3021013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sp>
        <p:nvSpPr>
          <p:cNvPr id="23" name="Text 21"/>
          <p:cNvSpPr/>
          <p:nvPr/>
        </p:nvSpPr>
        <p:spPr>
          <a:xfrm>
            <a:off x="6832600" y="2958802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83000" y="3273723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Nazariy-amaliy mashg‘ulotlarga mosligi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83000" y="3572073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E3EDF3"/>
          </a:solidFill>
          <a:ln/>
        </p:spPr>
      </p:sp>
      <p:sp>
        <p:nvSpPr>
          <p:cNvPr id="26" name="Shape 24"/>
          <p:cNvSpPr/>
          <p:nvPr/>
        </p:nvSpPr>
        <p:spPr>
          <a:xfrm>
            <a:off x="3683000" y="3572073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sp>
        <p:nvSpPr>
          <p:cNvPr id="27" name="Text 25"/>
          <p:cNvSpPr/>
          <p:nvPr/>
        </p:nvSpPr>
        <p:spPr>
          <a:xfrm>
            <a:off x="6832600" y="3509863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83000" y="3824784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Imlo qoidalariga rioya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83000" y="4123134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E3EDF3"/>
          </a:solidFill>
          <a:ln/>
        </p:spPr>
      </p:sp>
      <p:sp>
        <p:nvSpPr>
          <p:cNvPr id="30" name="Shape 28"/>
          <p:cNvSpPr/>
          <p:nvPr/>
        </p:nvSpPr>
        <p:spPr>
          <a:xfrm>
            <a:off x="3683000" y="4123134"/>
            <a:ext cx="1534319" cy="889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sp>
        <p:nvSpPr>
          <p:cNvPr id="31" name="Text 29"/>
          <p:cNvSpPr/>
          <p:nvPr/>
        </p:nvSpPr>
        <p:spPr>
          <a:xfrm>
            <a:off x="6832600" y="4060924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5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83000" y="4375845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Nazorat savollari va topshiriqlar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83000" y="4674195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E3EDF3"/>
          </a:solidFill>
          <a:ln/>
        </p:spPr>
      </p:sp>
      <p:sp>
        <p:nvSpPr>
          <p:cNvPr id="34" name="Shape 32"/>
          <p:cNvSpPr/>
          <p:nvPr/>
        </p:nvSpPr>
        <p:spPr>
          <a:xfrm>
            <a:off x="3683000" y="4674195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sp>
        <p:nvSpPr>
          <p:cNvPr id="35" name="Text 33"/>
          <p:cNvSpPr/>
          <p:nvPr/>
        </p:nvSpPr>
        <p:spPr>
          <a:xfrm>
            <a:off x="6832600" y="4611985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83000" y="4926905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Glossariy sifati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683000" y="5225256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E3EDF3"/>
          </a:solidFill>
          <a:ln/>
        </p:spPr>
      </p:sp>
      <p:sp>
        <p:nvSpPr>
          <p:cNvPr id="38" name="Shape 36"/>
          <p:cNvSpPr/>
          <p:nvPr/>
        </p:nvSpPr>
        <p:spPr>
          <a:xfrm>
            <a:off x="3683000" y="5225256"/>
            <a:ext cx="1534319" cy="889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sp>
        <p:nvSpPr>
          <p:cNvPr id="39" name="Text 37"/>
          <p:cNvSpPr/>
          <p:nvPr/>
        </p:nvSpPr>
        <p:spPr>
          <a:xfrm>
            <a:off x="6832600" y="5163046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5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683000" y="5477966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O‘qitish metodlarining mosligi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683000" y="5776317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E3EDF3"/>
          </a:solidFill>
          <a:ln/>
        </p:spPr>
      </p:sp>
      <p:sp>
        <p:nvSpPr>
          <p:cNvPr id="42" name="Shape 40"/>
          <p:cNvSpPr/>
          <p:nvPr/>
        </p:nvSpPr>
        <p:spPr>
          <a:xfrm>
            <a:off x="3683000" y="5776317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1A6E99"/>
          </a:solidFill>
          <a:ln/>
        </p:spPr>
      </p:sp>
      <p:sp>
        <p:nvSpPr>
          <p:cNvPr id="43" name="Text 41"/>
          <p:cNvSpPr/>
          <p:nvPr/>
        </p:nvSpPr>
        <p:spPr>
          <a:xfrm>
            <a:off x="6832600" y="5714107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569200" y="1623020"/>
            <a:ext cx="3911600" cy="4507607"/>
          </a:xfrm>
          <a:prstGeom prst="roundRect">
            <a:avLst>
              <a:gd name="adj" fmla="val 3896"/>
            </a:avLst>
          </a:prstGeom>
          <a:solidFill>
            <a:srgbClr val="FCFDFE"/>
          </a:solidFill>
          <a:ln/>
          <a:effectLst>
            <a:outerShdw blurRad="127000" dist="38100" dir="5400000" algn="bl" rotWithShape="0">
              <a:srgbClr val="0F2F47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97800" y="1826220"/>
            <a:ext cx="35580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36A08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AKT eksperti · 40 ball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97800" y="2171601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Matn formati: Calibri 14, interval 1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797800" y="2469952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F7EBD8"/>
          </a:solidFill>
          <a:ln/>
        </p:spPr>
      </p:sp>
      <p:sp>
        <p:nvSpPr>
          <p:cNvPr id="48" name="Shape 46"/>
          <p:cNvSpPr/>
          <p:nvPr/>
        </p:nvSpPr>
        <p:spPr>
          <a:xfrm>
            <a:off x="7797800" y="2469952"/>
            <a:ext cx="1558925" cy="889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49" name="Text 47"/>
          <p:cNvSpPr/>
          <p:nvPr/>
        </p:nvSpPr>
        <p:spPr>
          <a:xfrm>
            <a:off x="10947400" y="2407741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5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797800" y="2722662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Videolarning mavzularga mosligi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797800" y="3021013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F7EBD8"/>
          </a:solidFill>
          <a:ln/>
        </p:spPr>
      </p:sp>
      <p:sp>
        <p:nvSpPr>
          <p:cNvPr id="52" name="Shape 50"/>
          <p:cNvSpPr/>
          <p:nvPr/>
        </p:nvSpPr>
        <p:spPr>
          <a:xfrm>
            <a:off x="7797800" y="3021013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53" name="Text 51"/>
          <p:cNvSpPr/>
          <p:nvPr/>
        </p:nvSpPr>
        <p:spPr>
          <a:xfrm>
            <a:off x="10947400" y="2958802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797800" y="3273723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Video sifati (480p — to‘liq ball)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797800" y="3572073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F7EBD8"/>
          </a:solidFill>
          <a:ln/>
        </p:spPr>
      </p:sp>
      <p:sp>
        <p:nvSpPr>
          <p:cNvPr id="56" name="Shape 54"/>
          <p:cNvSpPr/>
          <p:nvPr/>
        </p:nvSpPr>
        <p:spPr>
          <a:xfrm>
            <a:off x="7797800" y="3572073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57" name="Text 55"/>
          <p:cNvSpPr/>
          <p:nvPr/>
        </p:nvSpPr>
        <p:spPr>
          <a:xfrm>
            <a:off x="10947400" y="3509863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797800" y="3824784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Ko‘rgazmali va taqdimot materiallari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797800" y="4123134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F7EBD8"/>
          </a:solidFill>
          <a:ln/>
        </p:spPr>
      </p:sp>
      <p:sp>
        <p:nvSpPr>
          <p:cNvPr id="60" name="Shape 58"/>
          <p:cNvSpPr/>
          <p:nvPr/>
        </p:nvSpPr>
        <p:spPr>
          <a:xfrm>
            <a:off x="7797800" y="4123134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61" name="Text 59"/>
          <p:cNvSpPr/>
          <p:nvPr/>
        </p:nvSpPr>
        <p:spPr>
          <a:xfrm>
            <a:off x="10947400" y="4060924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797800" y="4375845"/>
            <a:ext cx="355803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Interfeys, dizayn va ergonomika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797800" y="4674195"/>
            <a:ext cx="3098800" cy="88900"/>
          </a:xfrm>
          <a:prstGeom prst="roundRect">
            <a:avLst>
              <a:gd name="adj" fmla="val 50000"/>
            </a:avLst>
          </a:prstGeom>
          <a:solidFill>
            <a:srgbClr val="F7EBD8"/>
          </a:solidFill>
          <a:ln/>
        </p:spPr>
      </p:sp>
      <p:sp>
        <p:nvSpPr>
          <p:cNvPr id="64" name="Shape 62"/>
          <p:cNvSpPr/>
          <p:nvPr/>
        </p:nvSpPr>
        <p:spPr>
          <a:xfrm>
            <a:off x="7797800" y="4674195"/>
            <a:ext cx="1558925" cy="889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65" name="Text 63"/>
          <p:cNvSpPr/>
          <p:nvPr/>
        </p:nvSpPr>
        <p:spPr>
          <a:xfrm>
            <a:off x="10947400" y="4611985"/>
            <a:ext cx="30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5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797800" y="5312866"/>
            <a:ext cx="3454400" cy="614561"/>
          </a:xfrm>
          <a:prstGeom prst="roundRect">
            <a:avLst>
              <a:gd name="adj" fmla="val 14466"/>
            </a:avLst>
          </a:prstGeom>
          <a:solidFill>
            <a:srgbClr val="F7EBD8"/>
          </a:solidFill>
          <a:ln/>
        </p:spPr>
        <p:txBody>
          <a:bodyPr wrap="square" lIns="100962" tIns="75562" rIns="4950" bIns="50162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96B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Video: 360p — 8 ball, 240p — 6 ball. Matn hoshiyalari: 20 / 20 / 30 / 15 mm.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2F47"/>
              </a:gs>
              <a:gs pos="70000">
                <a:srgbClr val="14506F"/>
              </a:gs>
              <a:gs pos="100000">
                <a:srgbClr val="1A6E99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7112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4" name="Text 2"/>
          <p:cNvSpPr/>
          <p:nvPr/>
        </p:nvSpPr>
        <p:spPr>
          <a:xfrm>
            <a:off x="711200" y="685800"/>
            <a:ext cx="110926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33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05 · NATIJA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711200" y="975320"/>
            <a:ext cx="110926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3F7F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G‘oliblarni taqdirlash va apellyatsiya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11200" y="1648420"/>
            <a:ext cx="3302000" cy="3007122"/>
          </a:xfrm>
          <a:prstGeom prst="roundRect">
            <a:avLst>
              <a:gd name="adj" fmla="val 5913"/>
            </a:avLst>
          </a:prstGeom>
          <a:solidFill>
            <a:srgbClr val="F2A33A"/>
          </a:solidFill>
          <a:ln/>
        </p:spPr>
      </p:sp>
      <p:pic>
        <p:nvPicPr>
          <p:cNvPr id="7" name="Image 0" descr="Sta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600" y="1956395"/>
            <a:ext cx="406400" cy="406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0600" y="2438995"/>
            <a:ext cx="282549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F2F47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25×</a:t>
            </a:r>
            <a:endParaRPr 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90600" y="3277195"/>
            <a:ext cx="2825496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F47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bazaviy hisoblash miqdori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90600" y="3901877"/>
            <a:ext cx="282549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0F2F47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I o‘rin uchun pul mukofoti va respublika bosqichi diplomi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19575" y="1651595"/>
            <a:ext cx="3562350" cy="1433711"/>
          </a:xfrm>
          <a:prstGeom prst="roundRect">
            <a:avLst>
              <a:gd name="adj" fmla="val 8637"/>
            </a:avLst>
          </a:prstGeom>
          <a:solidFill>
            <a:srgbClr val="F3F7FA">
              <a:alpha val="8000"/>
            </a:srgbClr>
          </a:solidFill>
          <a:ln w="6350">
            <a:solidFill>
              <a:srgbClr val="F3F7FA">
                <a:alpha val="20000"/>
              </a:srgbClr>
            </a:solidFill>
            <a:prstDash val="solid"/>
          </a:ln>
        </p:spPr>
      </p:sp>
      <p:pic>
        <p:nvPicPr>
          <p:cNvPr id="12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5950" y="1832570"/>
            <a:ext cx="304800" cy="304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25950" y="2200870"/>
            <a:ext cx="32440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Hammualliflar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425950" y="2492970"/>
            <a:ext cx="3244088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DEE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har biriga diplom, pul mukofoti teng taqsimlanadi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915275" y="1651595"/>
            <a:ext cx="3562350" cy="1433711"/>
          </a:xfrm>
          <a:prstGeom prst="roundRect">
            <a:avLst>
              <a:gd name="adj" fmla="val 8637"/>
            </a:avLst>
          </a:prstGeom>
          <a:solidFill>
            <a:srgbClr val="F3F7FA">
              <a:alpha val="8000"/>
            </a:srgbClr>
          </a:solidFill>
          <a:ln w="6350">
            <a:solidFill>
              <a:srgbClr val="F3F7FA">
                <a:alpha val="20000"/>
              </a:srgbClr>
            </a:solidFill>
            <a:prstDash val="solid"/>
          </a:ln>
        </p:spPr>
      </p:sp>
      <p:pic>
        <p:nvPicPr>
          <p:cNvPr id="16" name="Image 2" descr="Verified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1650" y="1832570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21650" y="2200870"/>
            <a:ext cx="32440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Faxriy yorliq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121650" y="2492970"/>
            <a:ext cx="3244088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DEE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75 balldan yuqori to‘plagan keyingi 5 ta o‘rin egasiga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219575" y="3218656"/>
            <a:ext cx="3562350" cy="1433711"/>
          </a:xfrm>
          <a:prstGeom prst="roundRect">
            <a:avLst>
              <a:gd name="adj" fmla="val 8637"/>
            </a:avLst>
          </a:prstGeom>
          <a:solidFill>
            <a:srgbClr val="F3F7FA">
              <a:alpha val="8000"/>
            </a:srgbClr>
          </a:solidFill>
          <a:ln w="6350">
            <a:solidFill>
              <a:srgbClr val="F3F7FA">
                <a:alpha val="20000"/>
              </a:srgbClr>
            </a:solidFill>
            <a:prstDash val="solid"/>
          </a:ln>
        </p:spPr>
      </p:sp>
      <p:pic>
        <p:nvPicPr>
          <p:cNvPr id="20" name="Image 3" descr="Glob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25950" y="3399631"/>
            <a:ext cx="304800" cy="304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25950" y="3767931"/>
            <a:ext cx="32440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Ommalashtirish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425950" y="4060031"/>
            <a:ext cx="3244088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DEE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g‘olib resurslar rtr.profedu.uz platformasiga joylashtiriladi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7915275" y="3218656"/>
            <a:ext cx="3562350" cy="1433711"/>
          </a:xfrm>
          <a:prstGeom prst="roundRect">
            <a:avLst>
              <a:gd name="adj" fmla="val 8637"/>
            </a:avLst>
          </a:prstGeom>
          <a:solidFill>
            <a:srgbClr val="F3F7FA">
              <a:alpha val="8000"/>
            </a:srgbClr>
          </a:solidFill>
          <a:ln w="6350">
            <a:solidFill>
              <a:srgbClr val="F3F7FA">
                <a:alpha val="20000"/>
              </a:srgbClr>
            </a:solidFill>
            <a:prstDash val="solid"/>
          </a:ln>
        </p:spPr>
      </p:sp>
      <p:pic>
        <p:nvPicPr>
          <p:cNvPr id="24" name="Image 4" descr="ThumbsUp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21650" y="3399631"/>
            <a:ext cx="304800" cy="3048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21650" y="3767931"/>
            <a:ext cx="32440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7F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1–2-bosqich g‘oliblari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8121650" y="4060031"/>
            <a:ext cx="3244088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DEEA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ta’lim tashkiloti va hududiy boshqarma rag‘batlantiradi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711200" y="4909542"/>
            <a:ext cx="10769600" cy="716161"/>
          </a:xfrm>
          <a:prstGeom prst="roundRect">
            <a:avLst>
              <a:gd name="adj" fmla="val 17733"/>
            </a:avLst>
          </a:prstGeom>
          <a:solidFill>
            <a:srgbClr val="F3F7FA"/>
          </a:solidFill>
          <a:ln/>
        </p:spPr>
      </p:sp>
      <p:pic>
        <p:nvPicPr>
          <p:cNvPr id="28" name="Image 5" descr="Trust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4400" y="5115223"/>
            <a:ext cx="304800" cy="3048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20800" y="5145732"/>
            <a:ext cx="146494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F47"/>
                </a:solidFill>
                <a:latin typeface="Calibri" panose="020F0502020204030204" pitchFamily="34" charset="0"/>
                <a:ea typeface="Rubik" pitchFamily="34" charset="-122"/>
                <a:cs typeface="Calibri" panose="020F0502020204030204" pitchFamily="34" charset="0"/>
              </a:rPr>
              <a:t>Apellyatsiya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2812669" y="5176936"/>
            <a:ext cx="2773172" cy="269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1 ish kuni</a:t>
            </a:r>
            <a:r>
              <a:rPr lang="en-US" sz="1200" dirty="0">
                <a:solidFill>
                  <a:srgbClr val="33495C"/>
                </a:solidFill>
                <a:latin typeface="Calibri" panose="020F0502020204030204" pitchFamily="34" charset="0"/>
                <a:ea typeface="Nunito Sans" pitchFamily="34" charset="-122"/>
                <a:cs typeface="Calibri" panose="020F0502020204030204" pitchFamily="34" charset="0"/>
              </a:rPr>
              <a:t> ichida yozma shikoyat beriladi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g yaxshi RTR tanlovi 2026">
  <a:themeElements>
    <a:clrScheme name="Eng yaxshi RTR tanlovi 2026">
      <a:dk1>
        <a:srgbClr val="0F2F47"/>
      </a:dk1>
      <a:lt1>
        <a:srgbClr val="F3F7FA"/>
      </a:lt1>
      <a:dk2>
        <a:srgbClr val="486174"/>
      </a:dk2>
      <a:lt2>
        <a:srgbClr val="DCE3E8"/>
      </a:lt2>
      <a:accent1>
        <a:srgbClr val="F2A33A"/>
      </a:accent1>
      <a:accent2>
        <a:srgbClr val="1A6E99"/>
      </a:accent2>
      <a:accent3>
        <a:srgbClr val="33495C"/>
      </a:accent3>
      <a:accent4>
        <a:srgbClr val="0F7A72"/>
      </a:accent4>
      <a:accent5>
        <a:srgbClr val="14506F"/>
      </a:accent5>
      <a:accent6>
        <a:srgbClr val="1F8FC4"/>
      </a:accent6>
      <a:hlink>
        <a:srgbClr val="0563C1"/>
      </a:hlink>
      <a:folHlink>
        <a:srgbClr val="954F72"/>
      </a:folHlink>
    </a:clrScheme>
    <a:fontScheme name="Eng yaxshi RTR tanlovi 2026">
      <a:majorFont>
        <a:latin typeface="Nuni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679</Words>
  <Application>Microsoft Office PowerPoint</Application>
  <PresentationFormat>Широкоэкранный</PresentationFormat>
  <Paragraphs>136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Nunito Sans</vt:lpstr>
      <vt:lpstr>Rubik</vt:lpstr>
      <vt:lpstr>Eng yaxshi RTR tanlovi 2026</vt:lpstr>
      <vt:lpstr>Eng yaxshi raqamli ta’lim resurslari</vt:lpstr>
      <vt:lpstr>Raqamli ta’lim resursi nima?</vt:lpstr>
      <vt:lpstr>Tanlov uch bosqichda o‘tadi</vt:lpstr>
      <vt:lpstr>Resursga qo‘yiladigan talablar</vt:lpstr>
      <vt:lpstr>Baholash mezonlari — 100 ball</vt:lpstr>
      <vt:lpstr>G‘oliblarni taqdirlash va apellyatsiya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 yaxshi RTR tanlovi 2026</dc:title>
  <dc:subject/>
  <dc:creator>HOME</dc:creator>
  <cp:lastModifiedBy>Takhirov Tulkin</cp:lastModifiedBy>
  <cp:revision>7</cp:revision>
  <dcterms:created xsi:type="dcterms:W3CDTF">2026-10-05T12:21:57Z</dcterms:created>
  <dcterms:modified xsi:type="dcterms:W3CDTF">2026-10-21T17:39:55Z</dcterms:modified>
</cp:coreProperties>
</file>